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57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4879" y="2112665"/>
            <a:ext cx="241165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86819"/>
            <a:ext cx="1096042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Disaster Training Monitoring System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6093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modern, professional emergency management dashboard — designed for real-time monitoring of disaster training programs, attendance tracking, and performance reporting.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225627"/>
            <a:ext cx="10868745" cy="1408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49957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Design Presentation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106" y="271760"/>
            <a:ext cx="541622" cy="165596"/>
          </a:xfrm>
          <a:prstGeom prst="roundRect">
            <a:avLst>
              <a:gd name="adj" fmla="val 7063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5894" y="307280"/>
            <a:ext cx="1021630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01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41106" y="457398"/>
            <a:ext cx="3046138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 Page UI Design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0960" y="837307"/>
            <a:ext cx="5776173" cy="5748933"/>
          </a:xfrm>
          <a:prstGeom prst="roundRect">
            <a:avLst>
              <a:gd name="adj" fmla="val 254"/>
            </a:avLst>
          </a:prstGeom>
          <a:solidFill>
            <a:srgbClr val="403234"/>
          </a:solidFill>
          <a:ln/>
        </p:spPr>
      </p:sp>
      <p:sp>
        <p:nvSpPr>
          <p:cNvPr id="6" name="Text 4"/>
          <p:cNvSpPr/>
          <p:nvPr/>
        </p:nvSpPr>
        <p:spPr>
          <a:xfrm>
            <a:off x="368390" y="3155851"/>
            <a:ext cx="182786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Design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8390" y="3358356"/>
            <a:ext cx="55813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clean, centered card layout with a modern logo, input fields, and a prominent login button. Responsive design ensures seamless access across devices.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8390" y="3639641"/>
            <a:ext cx="558131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+ system title header</a:t>
            </a:r>
            <a:endParaRPr lang="en-US" sz="75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Username &amp; password fields with validation</a:t>
            </a:r>
            <a:endParaRPr lang="en-US" sz="75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button with loading state</a:t>
            </a:r>
            <a:endParaRPr lang="en-US" sz="75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Forgot Password link</a:t>
            </a:r>
            <a:endParaRPr lang="en-US" sz="75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me checkbox</a:t>
            </a:r>
            <a:endParaRPr lang="en-US" sz="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159" y="950218"/>
            <a:ext cx="5635881" cy="56360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9465" y="475357"/>
            <a:ext cx="622483" cy="179884"/>
          </a:xfrm>
          <a:prstGeom prst="roundRect">
            <a:avLst>
              <a:gd name="adj" fmla="val 7428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666237" y="508695"/>
            <a:ext cx="1098523" cy="113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9465" y="681434"/>
            <a:ext cx="3393097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 Dashboard UI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99465" y="1127720"/>
            <a:ext cx="115922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command hub — giving administrators full visibility into trainers, trainees, active sessions, and system reports at a glance.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19298" y="1342926"/>
            <a:ext cx="3042665" cy="3650258"/>
          </a:xfrm>
          <a:prstGeom prst="roundRect">
            <a:avLst>
              <a:gd name="adj" fmla="val 549"/>
            </a:avLst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630619" y="1408509"/>
            <a:ext cx="200129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Sidebar Navigation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89" y="1659483"/>
            <a:ext cx="166981" cy="1669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2460" y="1656159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89" y="2128093"/>
            <a:ext cx="166981" cy="1669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2460" y="212477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Trainers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89" y="2596704"/>
            <a:ext cx="166981" cy="1669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460" y="259338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Trainees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89" y="3065314"/>
            <a:ext cx="166981" cy="16698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2460" y="306199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89" y="3533924"/>
            <a:ext cx="166981" cy="16698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92460" y="353060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89" y="4002534"/>
            <a:ext cx="166981" cy="1669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92460" y="399921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Logout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3759800" y="1408509"/>
            <a:ext cx="200129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Overview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3759800" y="1648023"/>
            <a:ext cx="8431895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Overview and recent activity snapshots help teams monitor usage, engagement, and reporting trends in real time.</a:t>
            </a:r>
            <a:endParaRPr lang="en-US" sz="8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800" y="1863229"/>
            <a:ext cx="5095053" cy="305623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599465" y="5066903"/>
            <a:ext cx="2698980" cy="1315641"/>
          </a:xfrm>
          <a:prstGeom prst="roundRect">
            <a:avLst>
              <a:gd name="adj" fmla="val 1269"/>
            </a:avLst>
          </a:prstGeom>
          <a:solidFill>
            <a:srgbClr val="EDEBE3"/>
          </a:solidFill>
          <a:ln/>
        </p:spPr>
      </p:sp>
      <p:sp>
        <p:nvSpPr>
          <p:cNvPr id="24" name="Shape 15"/>
          <p:cNvSpPr/>
          <p:nvPr/>
        </p:nvSpPr>
        <p:spPr>
          <a:xfrm>
            <a:off x="710785" y="5178227"/>
            <a:ext cx="333962" cy="333970"/>
          </a:xfrm>
          <a:prstGeom prst="roundRect">
            <a:avLst>
              <a:gd name="adj" fmla="val 22814115"/>
            </a:avLst>
          </a:prstGeom>
          <a:solidFill>
            <a:srgbClr val="28282F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560" y="5270004"/>
            <a:ext cx="150313" cy="15031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10785" y="557778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Trainers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710785" y="5791002"/>
            <a:ext cx="2476339" cy="480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24</a:t>
            </a:r>
            <a:endParaRPr lang="en-US" sz="3000" dirty="0"/>
          </a:p>
        </p:txBody>
      </p:sp>
      <p:sp>
        <p:nvSpPr>
          <p:cNvPr id="28" name="Shape 18"/>
          <p:cNvSpPr/>
          <p:nvPr/>
        </p:nvSpPr>
        <p:spPr>
          <a:xfrm>
            <a:off x="3364027" y="5066903"/>
            <a:ext cx="2698980" cy="1315641"/>
          </a:xfrm>
          <a:prstGeom prst="roundRect">
            <a:avLst>
              <a:gd name="adj" fmla="val 1269"/>
            </a:avLst>
          </a:prstGeom>
          <a:solidFill>
            <a:srgbClr val="EDEBE3"/>
          </a:solidFill>
          <a:ln/>
        </p:spPr>
      </p:sp>
      <p:sp>
        <p:nvSpPr>
          <p:cNvPr id="29" name="Shape 19"/>
          <p:cNvSpPr/>
          <p:nvPr/>
        </p:nvSpPr>
        <p:spPr>
          <a:xfrm>
            <a:off x="3475347" y="5178227"/>
            <a:ext cx="333962" cy="333970"/>
          </a:xfrm>
          <a:prstGeom prst="roundRect">
            <a:avLst>
              <a:gd name="adj" fmla="val 22814115"/>
            </a:avLst>
          </a:prstGeom>
          <a:solidFill>
            <a:srgbClr val="28282F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7122" y="5270004"/>
            <a:ext cx="150313" cy="15031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475347" y="557778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Trainees</a:t>
            </a:r>
            <a:endParaRPr lang="en-US" sz="1050" dirty="0"/>
          </a:p>
        </p:txBody>
      </p:sp>
      <p:sp>
        <p:nvSpPr>
          <p:cNvPr id="32" name="Text 21"/>
          <p:cNvSpPr/>
          <p:nvPr/>
        </p:nvSpPr>
        <p:spPr>
          <a:xfrm>
            <a:off x="3475347" y="5791002"/>
            <a:ext cx="2476339" cy="480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156</a:t>
            </a:r>
            <a:endParaRPr lang="en-US" sz="3000" dirty="0"/>
          </a:p>
        </p:txBody>
      </p:sp>
      <p:sp>
        <p:nvSpPr>
          <p:cNvPr id="33" name="Shape 22"/>
          <p:cNvSpPr/>
          <p:nvPr/>
        </p:nvSpPr>
        <p:spPr>
          <a:xfrm>
            <a:off x="6128589" y="5066903"/>
            <a:ext cx="2698980" cy="1315641"/>
          </a:xfrm>
          <a:prstGeom prst="roundRect">
            <a:avLst>
              <a:gd name="adj" fmla="val 1269"/>
            </a:avLst>
          </a:prstGeom>
          <a:solidFill>
            <a:srgbClr val="EDEBE3"/>
          </a:solidFill>
          <a:ln/>
        </p:spPr>
      </p:sp>
      <p:sp>
        <p:nvSpPr>
          <p:cNvPr id="34" name="Shape 23"/>
          <p:cNvSpPr/>
          <p:nvPr/>
        </p:nvSpPr>
        <p:spPr>
          <a:xfrm>
            <a:off x="6239910" y="5178227"/>
            <a:ext cx="333962" cy="333970"/>
          </a:xfrm>
          <a:prstGeom prst="roundRect">
            <a:avLst>
              <a:gd name="adj" fmla="val 22814115"/>
            </a:avLst>
          </a:prstGeom>
          <a:solidFill>
            <a:srgbClr val="28282F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1685" y="5270004"/>
            <a:ext cx="150313" cy="15031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239910" y="557778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Active Trainings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6239910" y="5791002"/>
            <a:ext cx="2476339" cy="480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</a:t>
            </a:r>
            <a:endParaRPr lang="en-US" sz="3000" dirty="0"/>
          </a:p>
        </p:txBody>
      </p:sp>
      <p:sp>
        <p:nvSpPr>
          <p:cNvPr id="38" name="Shape 26"/>
          <p:cNvSpPr/>
          <p:nvPr/>
        </p:nvSpPr>
        <p:spPr>
          <a:xfrm>
            <a:off x="8893151" y="5066903"/>
            <a:ext cx="2699079" cy="1315641"/>
          </a:xfrm>
          <a:prstGeom prst="roundRect">
            <a:avLst>
              <a:gd name="adj" fmla="val 1269"/>
            </a:avLst>
          </a:prstGeom>
          <a:solidFill>
            <a:srgbClr val="EDEBE3"/>
          </a:solidFill>
          <a:ln/>
        </p:spPr>
      </p:sp>
      <p:sp>
        <p:nvSpPr>
          <p:cNvPr id="39" name="Shape 27"/>
          <p:cNvSpPr/>
          <p:nvPr/>
        </p:nvSpPr>
        <p:spPr>
          <a:xfrm>
            <a:off x="9004472" y="5178227"/>
            <a:ext cx="333962" cy="333970"/>
          </a:xfrm>
          <a:prstGeom prst="roundRect">
            <a:avLst>
              <a:gd name="adj" fmla="val 22814115"/>
            </a:avLst>
          </a:prstGeom>
          <a:solidFill>
            <a:srgbClr val="28282F"/>
          </a:solidFill>
          <a:ln/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96247" y="5270004"/>
            <a:ext cx="150313" cy="150316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004472" y="5577780"/>
            <a:ext cx="1391707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Reports Generated</a:t>
            </a:r>
            <a:endParaRPr lang="en-US" sz="1050" dirty="0"/>
          </a:p>
        </p:txBody>
      </p:sp>
      <p:sp>
        <p:nvSpPr>
          <p:cNvPr id="42" name="Text 29"/>
          <p:cNvSpPr/>
          <p:nvPr/>
        </p:nvSpPr>
        <p:spPr>
          <a:xfrm>
            <a:off x="9004472" y="5791002"/>
            <a:ext cx="2476438" cy="480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42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071" y="398165"/>
            <a:ext cx="463638" cy="134441"/>
          </a:xfrm>
          <a:prstGeom prst="roundRect">
            <a:avLst>
              <a:gd name="adj" fmla="val 7197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8739" y="428625"/>
            <a:ext cx="963886" cy="73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03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34071" y="546298"/>
            <a:ext cx="2625262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Trainer Dashboard UI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34071" y="849809"/>
            <a:ext cx="1175762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trainers with tools to manage sessions, track attendance, and evaluate trainee performance in real time.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34071" y="1014710"/>
            <a:ext cx="1617424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Sidebar Navigation</a:t>
            </a:r>
            <a:endParaRPr lang="en-US" sz="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332" y="1181695"/>
            <a:ext cx="120845" cy="120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6002" y="1179314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332" y="1494730"/>
            <a:ext cx="120845" cy="120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6002" y="1492349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Schedule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332" y="1807766"/>
            <a:ext cx="120845" cy="1208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002" y="1805384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332" y="2120801"/>
            <a:ext cx="120845" cy="1208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6002" y="211842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Live Activity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332" y="2433836"/>
            <a:ext cx="120845" cy="1208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6002" y="2431455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Evaluations</a:t>
            </a:r>
            <a:endParaRPr lang="en-US" sz="7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332" y="2746871"/>
            <a:ext cx="120845" cy="1208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6002" y="274449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Settings</a:t>
            </a:r>
            <a:endParaRPr lang="en-US" sz="750" dirty="0"/>
          </a:p>
        </p:txBody>
      </p:sp>
      <p:sp>
        <p:nvSpPr>
          <p:cNvPr id="19" name="Text 11"/>
          <p:cNvSpPr/>
          <p:nvPr/>
        </p:nvSpPr>
        <p:spPr>
          <a:xfrm>
            <a:off x="3435661" y="1014710"/>
            <a:ext cx="1617424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 Dashboard</a:t>
            </a:r>
            <a:endParaRPr lang="en-US" sz="750" dirty="0"/>
          </a:p>
        </p:txBody>
      </p:sp>
      <p:sp>
        <p:nvSpPr>
          <p:cNvPr id="20" name="Text 12"/>
          <p:cNvSpPr/>
          <p:nvPr/>
        </p:nvSpPr>
        <p:spPr>
          <a:xfrm>
            <a:off x="3435661" y="1175048"/>
            <a:ext cx="875603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production-ready trainer workspace with today’s schedule, attendance tracking, live engagement updates, and performance review tools.</a:t>
            </a:r>
            <a:endParaRPr lang="en-US" sz="600" dirty="0"/>
          </a:p>
        </p:txBody>
      </p:sp>
      <p:sp>
        <p:nvSpPr>
          <p:cNvPr id="21" name="Shape 13"/>
          <p:cNvSpPr/>
          <p:nvPr/>
        </p:nvSpPr>
        <p:spPr>
          <a:xfrm>
            <a:off x="434071" y="3065959"/>
            <a:ext cx="2805142" cy="563265"/>
          </a:xfrm>
          <a:prstGeom prst="roundRect">
            <a:avLst>
              <a:gd name="adj" fmla="val 2147"/>
            </a:avLst>
          </a:prstGeom>
          <a:solidFill>
            <a:srgbClr val="EDEBE3"/>
          </a:solidFill>
          <a:ln/>
        </p:spPr>
      </p:sp>
      <p:sp>
        <p:nvSpPr>
          <p:cNvPr id="22" name="Shape 14"/>
          <p:cNvSpPr/>
          <p:nvPr/>
        </p:nvSpPr>
        <p:spPr>
          <a:xfrm>
            <a:off x="514635" y="3146524"/>
            <a:ext cx="241790" cy="241796"/>
          </a:xfrm>
          <a:prstGeom prst="roundRect">
            <a:avLst>
              <a:gd name="adj" fmla="val 31511012"/>
            </a:avLst>
          </a:prstGeom>
          <a:solidFill>
            <a:srgbClr val="28282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110" y="3213001"/>
            <a:ext cx="108840" cy="10884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4635" y="342265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12 Trainees Present</a:t>
            </a:r>
            <a:endParaRPr lang="en-US" sz="750" dirty="0"/>
          </a:p>
        </p:txBody>
      </p:sp>
      <p:sp>
        <p:nvSpPr>
          <p:cNvPr id="25" name="Shape 16"/>
          <p:cNvSpPr/>
          <p:nvPr/>
        </p:nvSpPr>
        <p:spPr>
          <a:xfrm>
            <a:off x="3273542" y="3065959"/>
            <a:ext cx="2805142" cy="563265"/>
          </a:xfrm>
          <a:prstGeom prst="roundRect">
            <a:avLst>
              <a:gd name="adj" fmla="val 2147"/>
            </a:avLst>
          </a:prstGeom>
          <a:solidFill>
            <a:srgbClr val="EDEBE3"/>
          </a:solidFill>
          <a:ln/>
        </p:spPr>
      </p:sp>
      <p:sp>
        <p:nvSpPr>
          <p:cNvPr id="26" name="Shape 17"/>
          <p:cNvSpPr/>
          <p:nvPr/>
        </p:nvSpPr>
        <p:spPr>
          <a:xfrm>
            <a:off x="3354105" y="3146524"/>
            <a:ext cx="241790" cy="241796"/>
          </a:xfrm>
          <a:prstGeom prst="roundRect">
            <a:avLst>
              <a:gd name="adj" fmla="val 31511012"/>
            </a:avLst>
          </a:prstGeom>
          <a:solidFill>
            <a:srgbClr val="28282F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0580" y="3213001"/>
            <a:ext cx="108840" cy="10884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354105" y="342265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 Sessions Today</a:t>
            </a:r>
            <a:endParaRPr lang="en-US" sz="750" dirty="0"/>
          </a:p>
        </p:txBody>
      </p:sp>
      <p:sp>
        <p:nvSpPr>
          <p:cNvPr id="29" name="Shape 19"/>
          <p:cNvSpPr/>
          <p:nvPr/>
        </p:nvSpPr>
        <p:spPr>
          <a:xfrm>
            <a:off x="6113012" y="3065959"/>
            <a:ext cx="2805142" cy="563265"/>
          </a:xfrm>
          <a:prstGeom prst="roundRect">
            <a:avLst>
              <a:gd name="adj" fmla="val 2147"/>
            </a:avLst>
          </a:prstGeom>
          <a:solidFill>
            <a:srgbClr val="EDEBE3"/>
          </a:solidFill>
          <a:ln/>
        </p:spPr>
      </p:sp>
      <p:sp>
        <p:nvSpPr>
          <p:cNvPr id="30" name="Shape 20"/>
          <p:cNvSpPr/>
          <p:nvPr/>
        </p:nvSpPr>
        <p:spPr>
          <a:xfrm>
            <a:off x="6193576" y="3146524"/>
            <a:ext cx="241790" cy="241796"/>
          </a:xfrm>
          <a:prstGeom prst="roundRect">
            <a:avLst>
              <a:gd name="adj" fmla="val 31511012"/>
            </a:avLst>
          </a:prstGeom>
          <a:solidFill>
            <a:srgbClr val="28282F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0050" y="3213001"/>
            <a:ext cx="108840" cy="10884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193576" y="342265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 96%</a:t>
            </a:r>
            <a:endParaRPr lang="en-US" sz="750" dirty="0"/>
          </a:p>
        </p:txBody>
      </p:sp>
      <p:sp>
        <p:nvSpPr>
          <p:cNvPr id="33" name="Shape 22"/>
          <p:cNvSpPr/>
          <p:nvPr/>
        </p:nvSpPr>
        <p:spPr>
          <a:xfrm>
            <a:off x="8952482" y="3065959"/>
            <a:ext cx="2805142" cy="563265"/>
          </a:xfrm>
          <a:prstGeom prst="roundRect">
            <a:avLst>
              <a:gd name="adj" fmla="val 2147"/>
            </a:avLst>
          </a:prstGeom>
          <a:solidFill>
            <a:srgbClr val="EDEBE3"/>
          </a:solidFill>
          <a:ln/>
        </p:spPr>
      </p:sp>
      <p:sp>
        <p:nvSpPr>
          <p:cNvPr id="34" name="Shape 23"/>
          <p:cNvSpPr/>
          <p:nvPr/>
        </p:nvSpPr>
        <p:spPr>
          <a:xfrm>
            <a:off x="9033046" y="3146524"/>
            <a:ext cx="241790" cy="241796"/>
          </a:xfrm>
          <a:prstGeom prst="roundRect">
            <a:avLst>
              <a:gd name="adj" fmla="val 31511012"/>
            </a:avLst>
          </a:prstGeom>
          <a:solidFill>
            <a:srgbClr val="28282F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99521" y="3213001"/>
            <a:ext cx="108840" cy="108843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9033046" y="342265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Up 8%</a:t>
            </a:r>
            <a:endParaRPr lang="en-US" sz="750" dirty="0"/>
          </a:p>
        </p:txBody>
      </p:sp>
      <p:sp>
        <p:nvSpPr>
          <p:cNvPr id="37" name="Text 25"/>
          <p:cNvSpPr/>
          <p:nvPr/>
        </p:nvSpPr>
        <p:spPr>
          <a:xfrm>
            <a:off x="434071" y="3702149"/>
            <a:ext cx="1617424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Training Schedule</a:t>
            </a:r>
            <a:endParaRPr lang="en-US" sz="750" dirty="0"/>
          </a:p>
        </p:txBody>
      </p:sp>
      <p:sp>
        <p:nvSpPr>
          <p:cNvPr id="38" name="Shape 26"/>
          <p:cNvSpPr/>
          <p:nvPr/>
        </p:nvSpPr>
        <p:spPr>
          <a:xfrm>
            <a:off x="434071" y="3866753"/>
            <a:ext cx="6484974" cy="766862"/>
          </a:xfrm>
          <a:prstGeom prst="roundRect">
            <a:avLst>
              <a:gd name="adj" fmla="val 157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521084" y="3899991"/>
            <a:ext cx="3163610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endParaRPr lang="en-US" sz="600" dirty="0"/>
          </a:p>
        </p:txBody>
      </p:sp>
      <p:sp>
        <p:nvSpPr>
          <p:cNvPr id="40" name="Text 28"/>
          <p:cNvSpPr/>
          <p:nvPr/>
        </p:nvSpPr>
        <p:spPr>
          <a:xfrm>
            <a:off x="3242586" y="3899991"/>
            <a:ext cx="1607105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600" dirty="0"/>
          </a:p>
        </p:txBody>
      </p:sp>
      <p:sp>
        <p:nvSpPr>
          <p:cNvPr id="41" name="Text 29"/>
          <p:cNvSpPr/>
          <p:nvPr/>
        </p:nvSpPr>
        <p:spPr>
          <a:xfrm>
            <a:off x="4407583" y="3899991"/>
            <a:ext cx="303413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600" dirty="0"/>
          </a:p>
        </p:txBody>
      </p:sp>
      <p:sp>
        <p:nvSpPr>
          <p:cNvPr id="42" name="Text 30"/>
          <p:cNvSpPr/>
          <p:nvPr/>
        </p:nvSpPr>
        <p:spPr>
          <a:xfrm>
            <a:off x="521084" y="4052094"/>
            <a:ext cx="3163610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 Fundamentals</a:t>
            </a:r>
            <a:endParaRPr lang="en-US" sz="600" dirty="0"/>
          </a:p>
        </p:txBody>
      </p:sp>
      <p:sp>
        <p:nvSpPr>
          <p:cNvPr id="43" name="Text 31"/>
          <p:cNvSpPr/>
          <p:nvPr/>
        </p:nvSpPr>
        <p:spPr>
          <a:xfrm>
            <a:off x="3242586" y="4052094"/>
            <a:ext cx="1607105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09:00</a:t>
            </a:r>
            <a:endParaRPr lang="en-US" sz="600" dirty="0"/>
          </a:p>
        </p:txBody>
      </p:sp>
      <p:sp>
        <p:nvSpPr>
          <p:cNvPr id="44" name="Text 32"/>
          <p:cNvSpPr/>
          <p:nvPr/>
        </p:nvSpPr>
        <p:spPr>
          <a:xfrm>
            <a:off x="4407583" y="4052094"/>
            <a:ext cx="303413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600" dirty="0"/>
          </a:p>
        </p:txBody>
      </p:sp>
      <p:sp>
        <p:nvSpPr>
          <p:cNvPr id="45" name="Text 33"/>
          <p:cNvSpPr/>
          <p:nvPr/>
        </p:nvSpPr>
        <p:spPr>
          <a:xfrm>
            <a:off x="521084" y="4204196"/>
            <a:ext cx="3163610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 Correction Drill</a:t>
            </a:r>
            <a:endParaRPr lang="en-US" sz="600" dirty="0"/>
          </a:p>
        </p:txBody>
      </p:sp>
      <p:sp>
        <p:nvSpPr>
          <p:cNvPr id="46" name="Text 34"/>
          <p:cNvSpPr/>
          <p:nvPr/>
        </p:nvSpPr>
        <p:spPr>
          <a:xfrm>
            <a:off x="3242586" y="4204196"/>
            <a:ext cx="1607105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11:00</a:t>
            </a:r>
            <a:endParaRPr lang="en-US" sz="600" dirty="0"/>
          </a:p>
        </p:txBody>
      </p:sp>
      <p:sp>
        <p:nvSpPr>
          <p:cNvPr id="47" name="Text 35"/>
          <p:cNvSpPr/>
          <p:nvPr/>
        </p:nvSpPr>
        <p:spPr>
          <a:xfrm>
            <a:off x="4407583" y="4204196"/>
            <a:ext cx="303413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Upcoming</a:t>
            </a:r>
            <a:endParaRPr lang="en-US" sz="600" dirty="0"/>
          </a:p>
        </p:txBody>
      </p:sp>
      <p:sp>
        <p:nvSpPr>
          <p:cNvPr id="48" name="Text 36"/>
          <p:cNvSpPr/>
          <p:nvPr/>
        </p:nvSpPr>
        <p:spPr>
          <a:xfrm>
            <a:off x="521084" y="4356298"/>
            <a:ext cx="3163610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Review</a:t>
            </a:r>
            <a:endParaRPr lang="en-US" sz="600" dirty="0"/>
          </a:p>
        </p:txBody>
      </p:sp>
      <p:sp>
        <p:nvSpPr>
          <p:cNvPr id="49" name="Text 37"/>
          <p:cNvSpPr/>
          <p:nvPr/>
        </p:nvSpPr>
        <p:spPr>
          <a:xfrm>
            <a:off x="3242586" y="4356298"/>
            <a:ext cx="1607105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14:30</a:t>
            </a:r>
            <a:endParaRPr lang="en-US" sz="600" dirty="0"/>
          </a:p>
        </p:txBody>
      </p:sp>
      <p:sp>
        <p:nvSpPr>
          <p:cNvPr id="50" name="Text 38"/>
          <p:cNvSpPr/>
          <p:nvPr/>
        </p:nvSpPr>
        <p:spPr>
          <a:xfrm>
            <a:off x="4407583" y="4356298"/>
            <a:ext cx="303413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</a:t>
            </a:r>
            <a:endParaRPr lang="en-US" sz="600" dirty="0"/>
          </a:p>
        </p:txBody>
      </p:sp>
      <p:sp>
        <p:nvSpPr>
          <p:cNvPr id="51" name="Text 39"/>
          <p:cNvSpPr/>
          <p:nvPr/>
        </p:nvSpPr>
        <p:spPr>
          <a:xfrm>
            <a:off x="521084" y="4508401"/>
            <a:ext cx="3163610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&amp; Mobility</a:t>
            </a:r>
            <a:endParaRPr lang="en-US" sz="600" dirty="0"/>
          </a:p>
        </p:txBody>
      </p:sp>
      <p:sp>
        <p:nvSpPr>
          <p:cNvPr id="52" name="Text 40"/>
          <p:cNvSpPr/>
          <p:nvPr/>
        </p:nvSpPr>
        <p:spPr>
          <a:xfrm>
            <a:off x="3242586" y="4508401"/>
            <a:ext cx="1607105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16:00</a:t>
            </a:r>
            <a:endParaRPr lang="en-US" sz="600" dirty="0"/>
          </a:p>
        </p:txBody>
      </p:sp>
      <p:sp>
        <p:nvSpPr>
          <p:cNvPr id="53" name="Text 41"/>
          <p:cNvSpPr/>
          <p:nvPr/>
        </p:nvSpPr>
        <p:spPr>
          <a:xfrm>
            <a:off x="4407583" y="4508401"/>
            <a:ext cx="303413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</a:t>
            </a:r>
            <a:endParaRPr lang="en-US" sz="600" dirty="0"/>
          </a:p>
        </p:txBody>
      </p:sp>
      <p:sp>
        <p:nvSpPr>
          <p:cNvPr id="54" name="Text 42"/>
          <p:cNvSpPr/>
          <p:nvPr/>
        </p:nvSpPr>
        <p:spPr>
          <a:xfrm>
            <a:off x="7122041" y="3702149"/>
            <a:ext cx="163448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 Checklist</a:t>
            </a:r>
            <a:endParaRPr lang="en-US" sz="750" dirty="0"/>
          </a:p>
        </p:txBody>
      </p:sp>
      <p:sp>
        <p:nvSpPr>
          <p:cNvPr id="55" name="Text 43"/>
          <p:cNvSpPr/>
          <p:nvPr/>
        </p:nvSpPr>
        <p:spPr>
          <a:xfrm>
            <a:off x="7122041" y="3862487"/>
            <a:ext cx="506965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95000"/>
              </a:lnSpc>
              <a:buSzPct val="100000"/>
              <a:buChar char="​"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Aisha Khan</a:t>
            </a:r>
            <a:endParaRPr lang="en-US" sz="600" dirty="0"/>
          </a:p>
        </p:txBody>
      </p:sp>
      <p:sp>
        <p:nvSpPr>
          <p:cNvPr id="56" name="Shape 44"/>
          <p:cNvSpPr/>
          <p:nvPr/>
        </p:nvSpPr>
        <p:spPr>
          <a:xfrm>
            <a:off x="7122041" y="3868043"/>
            <a:ext cx="80564" cy="80566"/>
          </a:xfrm>
          <a:prstGeom prst="roundRect">
            <a:avLst>
              <a:gd name="adj" fmla="val 15012"/>
            </a:avLst>
          </a:prstGeom>
          <a:solidFill>
            <a:srgbClr val="28282F"/>
          </a:solidFill>
          <a:ln w="6350">
            <a:solidFill>
              <a:srgbClr val="28282F"/>
            </a:solidFill>
            <a:prstDash val="solid"/>
          </a:ln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8114" y="3888184"/>
            <a:ext cx="48318" cy="40184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7122041" y="3966468"/>
            <a:ext cx="506965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95000"/>
              </a:lnSpc>
              <a:buSzPct val="100000"/>
              <a:buChar char="​"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Rivera</a:t>
            </a:r>
            <a:endParaRPr lang="en-US" sz="600" dirty="0"/>
          </a:p>
        </p:txBody>
      </p:sp>
      <p:sp>
        <p:nvSpPr>
          <p:cNvPr id="59" name="Shape 46"/>
          <p:cNvSpPr/>
          <p:nvPr/>
        </p:nvSpPr>
        <p:spPr>
          <a:xfrm>
            <a:off x="7122041" y="3972024"/>
            <a:ext cx="80564" cy="80566"/>
          </a:xfrm>
          <a:prstGeom prst="roundRect">
            <a:avLst>
              <a:gd name="adj" fmla="val 15012"/>
            </a:avLst>
          </a:prstGeom>
          <a:solidFill>
            <a:srgbClr val="28282F"/>
          </a:solidFill>
          <a:ln w="6350">
            <a:solidFill>
              <a:srgbClr val="28282F"/>
            </a:solidFill>
            <a:prstDash val="solid"/>
          </a:ln>
        </p:spPr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8114" y="3992166"/>
            <a:ext cx="48318" cy="40184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7122041" y="4070449"/>
            <a:ext cx="506965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95000"/>
              </a:lnSpc>
              <a:buSzPct val="100000"/>
              <a:buChar char="​"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Mia Chen</a:t>
            </a:r>
            <a:endParaRPr lang="en-US" sz="600" dirty="0"/>
          </a:p>
        </p:txBody>
      </p:sp>
      <p:sp>
        <p:nvSpPr>
          <p:cNvPr id="62" name="Shape 48"/>
          <p:cNvSpPr/>
          <p:nvPr/>
        </p:nvSpPr>
        <p:spPr>
          <a:xfrm>
            <a:off x="7122041" y="4076005"/>
            <a:ext cx="80564" cy="80566"/>
          </a:xfrm>
          <a:prstGeom prst="roundRect">
            <a:avLst>
              <a:gd name="adj" fmla="val 15012"/>
            </a:avLst>
          </a:prstGeom>
          <a:solidFill>
            <a:srgbClr val="28282F"/>
          </a:solidFill>
          <a:ln w="6350">
            <a:solidFill>
              <a:srgbClr val="28282F"/>
            </a:solidFill>
            <a:prstDash val="solid"/>
          </a:ln>
        </p:spPr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8114" y="4096147"/>
            <a:ext cx="48318" cy="40184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7122041" y="4174430"/>
            <a:ext cx="506965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95000"/>
              </a:lnSpc>
              <a:buSzPct val="100000"/>
              <a:buChar char="​"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 Patel</a:t>
            </a:r>
            <a:endParaRPr lang="en-US" sz="600" dirty="0"/>
          </a:p>
        </p:txBody>
      </p:sp>
      <p:sp>
        <p:nvSpPr>
          <p:cNvPr id="65" name="Shape 50"/>
          <p:cNvSpPr/>
          <p:nvPr/>
        </p:nvSpPr>
        <p:spPr>
          <a:xfrm>
            <a:off x="7122041" y="4179987"/>
            <a:ext cx="80564" cy="80566"/>
          </a:xfrm>
          <a:prstGeom prst="roundRect">
            <a:avLst>
              <a:gd name="adj" fmla="val 15012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66" name="Text 51"/>
          <p:cNvSpPr/>
          <p:nvPr/>
        </p:nvSpPr>
        <p:spPr>
          <a:xfrm>
            <a:off x="7122041" y="4278412"/>
            <a:ext cx="506965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95000"/>
              </a:lnSpc>
              <a:buSzPct val="100000"/>
              <a:buChar char="​"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 Johnson</a:t>
            </a:r>
            <a:endParaRPr lang="en-US" sz="600" dirty="0"/>
          </a:p>
        </p:txBody>
      </p:sp>
      <p:sp>
        <p:nvSpPr>
          <p:cNvPr id="67" name="Shape 52"/>
          <p:cNvSpPr/>
          <p:nvPr/>
        </p:nvSpPr>
        <p:spPr>
          <a:xfrm>
            <a:off x="7122041" y="4283968"/>
            <a:ext cx="80564" cy="80566"/>
          </a:xfrm>
          <a:prstGeom prst="roundRect">
            <a:avLst>
              <a:gd name="adj" fmla="val 15012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7122041" y="4382393"/>
            <a:ext cx="506965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95000"/>
              </a:lnSpc>
              <a:buSzPct val="100000"/>
              <a:buChar char="​"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Lucas Martin</a:t>
            </a:r>
            <a:endParaRPr lang="en-US" sz="600" dirty="0"/>
          </a:p>
        </p:txBody>
      </p:sp>
      <p:sp>
        <p:nvSpPr>
          <p:cNvPr id="69" name="Shape 54"/>
          <p:cNvSpPr/>
          <p:nvPr/>
        </p:nvSpPr>
        <p:spPr>
          <a:xfrm>
            <a:off x="7122041" y="4387949"/>
            <a:ext cx="80564" cy="80566"/>
          </a:xfrm>
          <a:prstGeom prst="roundRect">
            <a:avLst>
              <a:gd name="adj" fmla="val 15012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434071" y="4745137"/>
            <a:ext cx="1617424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Live Activity Feed</a:t>
            </a:r>
            <a:endParaRPr lang="en-US" sz="750" dirty="0"/>
          </a:p>
        </p:txBody>
      </p:sp>
      <p:sp>
        <p:nvSpPr>
          <p:cNvPr id="71" name="Shape 56"/>
          <p:cNvSpPr/>
          <p:nvPr/>
        </p:nvSpPr>
        <p:spPr>
          <a:xfrm>
            <a:off x="434071" y="5033963"/>
            <a:ext cx="6139403" cy="1270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72" name="Text 57"/>
          <p:cNvSpPr/>
          <p:nvPr/>
        </p:nvSpPr>
        <p:spPr>
          <a:xfrm>
            <a:off x="434071" y="5099645"/>
            <a:ext cx="613940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09:12</a:t>
            </a: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Aisha completed the warm-up circuit with perfect form.</a:t>
            </a:r>
            <a:endParaRPr lang="en-US" sz="600" dirty="0"/>
          </a:p>
        </p:txBody>
      </p:sp>
      <p:sp>
        <p:nvSpPr>
          <p:cNvPr id="73" name="Shape 58"/>
          <p:cNvSpPr/>
          <p:nvPr/>
        </p:nvSpPr>
        <p:spPr>
          <a:xfrm>
            <a:off x="434071" y="5410597"/>
            <a:ext cx="6139403" cy="1270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74" name="Text 59"/>
          <p:cNvSpPr/>
          <p:nvPr/>
        </p:nvSpPr>
        <p:spPr>
          <a:xfrm>
            <a:off x="434071" y="5476280"/>
            <a:ext cx="613940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09:18</a:t>
            </a: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Daniel logged a lap time improvement of 14 seconds.</a:t>
            </a:r>
            <a:endParaRPr lang="en-US" sz="600" dirty="0"/>
          </a:p>
        </p:txBody>
      </p:sp>
      <p:sp>
        <p:nvSpPr>
          <p:cNvPr id="75" name="Shape 60"/>
          <p:cNvSpPr/>
          <p:nvPr/>
        </p:nvSpPr>
        <p:spPr>
          <a:xfrm>
            <a:off x="434071" y="5787231"/>
            <a:ext cx="6139403" cy="1270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76" name="Text 61"/>
          <p:cNvSpPr/>
          <p:nvPr/>
        </p:nvSpPr>
        <p:spPr>
          <a:xfrm>
            <a:off x="434071" y="5852914"/>
            <a:ext cx="613940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09:24</a:t>
            </a: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Mia asked for a technique review on shoulder alignment.</a:t>
            </a:r>
            <a:endParaRPr lang="en-US" sz="600" dirty="0"/>
          </a:p>
        </p:txBody>
      </p:sp>
      <p:sp>
        <p:nvSpPr>
          <p:cNvPr id="77" name="Shape 62"/>
          <p:cNvSpPr/>
          <p:nvPr/>
        </p:nvSpPr>
        <p:spPr>
          <a:xfrm>
            <a:off x="434071" y="6163866"/>
            <a:ext cx="6139403" cy="1270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78" name="Text 63"/>
          <p:cNvSpPr/>
          <p:nvPr/>
        </p:nvSpPr>
        <p:spPr>
          <a:xfrm>
            <a:off x="434071" y="6229548"/>
            <a:ext cx="6139403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09:31</a:t>
            </a: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Noah joined the session and marked check-in from mobile.</a:t>
            </a:r>
            <a:endParaRPr lang="en-US" sz="600" dirty="0"/>
          </a:p>
        </p:txBody>
      </p:sp>
      <p:sp>
        <p:nvSpPr>
          <p:cNvPr id="79" name="Text 64"/>
          <p:cNvSpPr/>
          <p:nvPr/>
        </p:nvSpPr>
        <p:spPr>
          <a:xfrm>
            <a:off x="6776471" y="4745137"/>
            <a:ext cx="173301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Evaluation</a:t>
            </a:r>
            <a:endParaRPr lang="en-US" sz="750" dirty="0"/>
          </a:p>
        </p:txBody>
      </p:sp>
      <p:sp>
        <p:nvSpPr>
          <p:cNvPr id="80" name="Text 65"/>
          <p:cNvSpPr/>
          <p:nvPr/>
        </p:nvSpPr>
        <p:spPr>
          <a:xfrm>
            <a:off x="6776471" y="4905474"/>
            <a:ext cx="5415224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trainees, add remarks, and review session outcomes before publishing feedback.</a:t>
            </a:r>
            <a:endParaRPr lang="en-US" sz="600" dirty="0"/>
          </a:p>
        </p:txBody>
      </p:sp>
      <p:pic>
        <p:nvPicPr>
          <p:cNvPr id="8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3771" y="5036046"/>
            <a:ext cx="5000103" cy="438845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6907833" y="5129312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Aisha Khan — 92%</a:t>
            </a:r>
            <a:endParaRPr lang="en-US" sz="750" dirty="0"/>
          </a:p>
        </p:txBody>
      </p:sp>
      <p:sp>
        <p:nvSpPr>
          <p:cNvPr id="83" name="Text 67"/>
          <p:cNvSpPr/>
          <p:nvPr/>
        </p:nvSpPr>
        <p:spPr>
          <a:xfrm>
            <a:off x="6907833" y="5289649"/>
            <a:ext cx="4762778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consistency, strong technique, ready for advanced drills.</a:t>
            </a:r>
            <a:endParaRPr lang="en-US" sz="600" dirty="0"/>
          </a:p>
        </p:txBody>
      </p:sp>
      <p:pic>
        <p:nvPicPr>
          <p:cNvPr id="8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3771" y="5509220"/>
            <a:ext cx="5000103" cy="438845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6907833" y="5602486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Daniel Rivera — 88%</a:t>
            </a:r>
            <a:endParaRPr lang="en-US" sz="750" dirty="0"/>
          </a:p>
        </p:txBody>
      </p:sp>
      <p:sp>
        <p:nvSpPr>
          <p:cNvPr id="86" name="Text 69"/>
          <p:cNvSpPr/>
          <p:nvPr/>
        </p:nvSpPr>
        <p:spPr>
          <a:xfrm>
            <a:off x="6907833" y="5762823"/>
            <a:ext cx="4762778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Improving steadily; focus on pacing and recovery intervals.</a:t>
            </a:r>
            <a:endParaRPr lang="en-US" sz="600" dirty="0"/>
          </a:p>
        </p:txBody>
      </p:sp>
      <p:pic>
        <p:nvPicPr>
          <p:cNvPr id="87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3771" y="5982395"/>
            <a:ext cx="5000103" cy="438845"/>
          </a:xfrm>
          <a:prstGeom prst="rect">
            <a:avLst/>
          </a:prstGeom>
        </p:spPr>
      </p:pic>
      <p:sp>
        <p:nvSpPr>
          <p:cNvPr id="88" name="Text 70"/>
          <p:cNvSpPr/>
          <p:nvPr/>
        </p:nvSpPr>
        <p:spPr>
          <a:xfrm>
            <a:off x="6907833" y="6075660"/>
            <a:ext cx="1007839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Mia Chen — 84%</a:t>
            </a:r>
            <a:endParaRPr lang="en-US" sz="750" dirty="0"/>
          </a:p>
        </p:txBody>
      </p:sp>
      <p:sp>
        <p:nvSpPr>
          <p:cNvPr id="89" name="Text 71"/>
          <p:cNvSpPr/>
          <p:nvPr/>
        </p:nvSpPr>
        <p:spPr>
          <a:xfrm>
            <a:off x="6907833" y="6235998"/>
            <a:ext cx="4762778" cy="91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engagement; needs refinement in posture during lifts.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491"/>
            <a:ext cx="809803" cy="256381"/>
          </a:xfrm>
          <a:prstGeom prst="roundRect">
            <a:avLst>
              <a:gd name="adj" fmla="val 6635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853" y="583307"/>
            <a:ext cx="1236632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33338"/>
            <a:ext cx="4159047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Trainee Dashboard UI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2961084"/>
            <a:ext cx="23815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Trainees See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3288804"/>
            <a:ext cx="582211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personalized, distraction-free interface focused on progress, schedules, and performance — keeping trainees informed and accountable.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802" y="1555353"/>
            <a:ext cx="3525452" cy="35255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320010"/>
            <a:ext cx="2656516" cy="10034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9354" y="5480745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Training Schedule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9354" y="5765899"/>
            <a:ext cx="225885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timetable with session dates and locations.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6152" y="5320010"/>
            <a:ext cx="2656516" cy="10034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3080" y="5480745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 Status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623080" y="5765899"/>
            <a:ext cx="225885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present/absent indicators with session history.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9879" y="5320010"/>
            <a:ext cx="2656516" cy="10034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66807" y="5480745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Score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366807" y="5765899"/>
            <a:ext cx="225885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scorecard with drill-wise breakdowns.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3605" y="5320010"/>
            <a:ext cx="2656615" cy="10034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10534" y="5480745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Progress Tracker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9110534" y="5765899"/>
            <a:ext cx="225895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progress bar showing completion percentage.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4807" y="444798"/>
            <a:ext cx="724676" cy="218083"/>
          </a:xfrm>
          <a:prstGeom prst="roundRect">
            <a:avLst>
              <a:gd name="adj" fmla="val 7150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532692" y="483691"/>
            <a:ext cx="1178491" cy="140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4807" y="698599"/>
            <a:ext cx="528723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 Monitoring Screen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54807" y="1238548"/>
            <a:ext cx="1173688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trainee attendance in a clean, functional interface with quick filtering, search, and bulk actions for efficient session management.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07" y="1514475"/>
            <a:ext cx="744320" cy="35728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015" y="1514475"/>
            <a:ext cx="950988" cy="35728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891" y="1514475"/>
            <a:ext cx="856832" cy="3572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4807" y="2052638"/>
            <a:ext cx="841195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Search:</a:t>
            </a: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Alex Morgan, Fire Drill A, Jun 10...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421" y="2072779"/>
            <a:ext cx="1097133" cy="35728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2442" y="2072779"/>
            <a:ext cx="1063400" cy="35728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454807" y="2631083"/>
            <a:ext cx="11282080" cy="3324225"/>
          </a:xfrm>
          <a:prstGeom prst="roundRect">
            <a:avLst>
              <a:gd name="adj" fmla="val 58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91131" y="2697361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Trainee Name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3975100" y="2697361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6792445" y="2697361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9046242" y="2697361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591131" y="2998986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Morgan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3975100" y="2998986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Drill A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792445" y="2998986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10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9046242" y="2998986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91131" y="3300611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 Lee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975100" y="3300611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Drill A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792445" y="3300611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10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9046242" y="3300611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91131" y="3602236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Rivera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3975100" y="3602236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Evacuation B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792445" y="3602236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046242" y="3602236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91131" y="3903861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Casey Kim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975100" y="3903861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Evacuation B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792445" y="3903861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11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046242" y="3903861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91131" y="4205486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Shah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975100" y="4205486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 C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6792445" y="4205486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9046242" y="4205486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91131" y="4507111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Marcus Brown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975100" y="4507111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Drill A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792445" y="4507111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12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9046242" y="4507111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Absent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91131" y="4808736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Elena Garcia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975100" y="4808736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Evacuation B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6792445" y="4808736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13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9046242" y="4808736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591131" y="5110361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Noah Wilson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3975100" y="5110361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 C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6792445" y="5110361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13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9046242" y="5110361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91131" y="5411986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Mia Chen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3975100" y="5411986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Drill A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6792445" y="5411986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14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9046242" y="5411986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591131" y="5713611"/>
            <a:ext cx="372745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Patel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3975100" y="5713611"/>
            <a:ext cx="316083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Evacuation B</a:t>
            </a: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6792445" y="5713611"/>
            <a:ext cx="25972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14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9046242" y="5713611"/>
            <a:ext cx="314545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Absent</a:t>
            </a:r>
            <a:endParaRPr lang="en-US" sz="1000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07" y="6055816"/>
            <a:ext cx="1458975" cy="357287"/>
          </a:xfrm>
          <a:prstGeom prst="rect">
            <a:avLst/>
          </a:prstGeom>
        </p:spPr>
      </p:pic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8670" y="6055816"/>
            <a:ext cx="979562" cy="357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688" y="259854"/>
            <a:ext cx="435956" cy="125710"/>
          </a:xfrm>
          <a:prstGeom prst="roundRect">
            <a:avLst>
              <a:gd name="adj" fmla="val 7217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2379" y="288826"/>
            <a:ext cx="942158" cy="6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06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330688" y="397570"/>
            <a:ext cx="29232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 Generation Screen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30688" y="709315"/>
            <a:ext cx="155462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 Filters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30688" y="857647"/>
            <a:ext cx="5438639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3000"/>
              </a:lnSpc>
              <a:buSzPct val="100000"/>
              <a:buChar char="•"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</a:t>
            </a:r>
            <a:endParaRPr lang="en-US" sz="550" dirty="0"/>
          </a:p>
          <a:p>
            <a:pPr marL="342900" indent="-342900" algn="l">
              <a:lnSpc>
                <a:spcPct val="93000"/>
              </a:lnSpc>
              <a:buSzPct val="100000"/>
              <a:buChar char="•"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550" dirty="0"/>
          </a:p>
          <a:p>
            <a:pPr marL="342900" indent="-342900" algn="l">
              <a:lnSpc>
                <a:spcPct val="93000"/>
              </a:lnSpc>
              <a:buSzPct val="100000"/>
              <a:buChar char="•"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Trainee group</a:t>
            </a:r>
            <a:endParaRPr lang="en-US" sz="550" dirty="0"/>
          </a:p>
          <a:p>
            <a:pPr marL="342900" indent="-342900" algn="l">
              <a:lnSpc>
                <a:spcPct val="93000"/>
              </a:lnSpc>
              <a:buSzPct val="100000"/>
              <a:buChar char="•"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88" y="1261666"/>
            <a:ext cx="749579" cy="20786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68" y="1261666"/>
            <a:ext cx="683799" cy="2078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0688" y="1503462"/>
            <a:ext cx="155462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 Types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38" y="1655564"/>
            <a:ext cx="5444989" cy="396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1690" y="1737519"/>
            <a:ext cx="945035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 Report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31690" y="1885851"/>
            <a:ext cx="5255684" cy="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Session-wise attendance summaries with exportable tables.</a:t>
            </a:r>
            <a:endParaRPr lang="en-US" sz="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38" y="2082602"/>
            <a:ext cx="5444989" cy="396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1690" y="2164556"/>
            <a:ext cx="945035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Report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431690" y="2312888"/>
            <a:ext cx="5255684" cy="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Trainee scores, trainer evaluations, and trend analysis.</a:t>
            </a:r>
            <a:endParaRPr lang="en-US" sz="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38" y="2509639"/>
            <a:ext cx="5444989" cy="396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1690" y="2591594"/>
            <a:ext cx="945035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Completion Report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431690" y="2739926"/>
            <a:ext cx="5255684" cy="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 rates by session, group, and training stage.</a:t>
            </a:r>
            <a:endParaRPr lang="en-US" sz="550" dirty="0"/>
          </a:p>
        </p:txBody>
      </p:sp>
      <p:sp>
        <p:nvSpPr>
          <p:cNvPr id="19" name="Text 12"/>
          <p:cNvSpPr/>
          <p:nvPr/>
        </p:nvSpPr>
        <p:spPr>
          <a:xfrm>
            <a:off x="5960020" y="709315"/>
            <a:ext cx="155462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Charts</a:t>
            </a:r>
            <a:endParaRPr lang="en-US" sz="7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020" y="861417"/>
            <a:ext cx="4725770" cy="333563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960020" y="4230985"/>
            <a:ext cx="6231675" cy="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by session is tracked alongside performance trends and completion rates to support stakeholder review.</a:t>
            </a:r>
            <a:endParaRPr lang="en-US" sz="5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020" y="4349552"/>
            <a:ext cx="4725770" cy="333563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960020" y="7719120"/>
            <a:ext cx="6231675" cy="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preview updates dynamically to show key metrics before export.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071" y="353417"/>
            <a:ext cx="752952" cy="205879"/>
          </a:xfrm>
          <a:prstGeom prst="roundRect">
            <a:avLst>
              <a:gd name="adj" fmla="val 7230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508483" y="390624"/>
            <a:ext cx="1213713" cy="1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071" y="591840"/>
            <a:ext cx="4063601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Navigation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4071" y="1101527"/>
            <a:ext cx="117576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linear, intuitive user journey ensures every role — admin, trainer, or trainee — can access the right tools with minimal clicks.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71" y="1357412"/>
            <a:ext cx="11323553" cy="48912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36150" y="5006570"/>
            <a:ext cx="1681352" cy="30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136150" y="5399910"/>
            <a:ext cx="1681352" cy="40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landing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53428" y="5006570"/>
            <a:ext cx="1681352" cy="30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453428" y="5399910"/>
            <a:ext cx="1681352" cy="40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export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2870" y="1798770"/>
            <a:ext cx="1681352" cy="30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82870" y="2192111"/>
            <a:ext cx="1681352" cy="40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542572" y="1798770"/>
            <a:ext cx="1681351" cy="30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Logout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542572" y="2192111"/>
            <a:ext cx="1681351" cy="40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session end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21584" y="1798770"/>
            <a:ext cx="1681352" cy="30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Attendance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321584" y="2192111"/>
            <a:ext cx="1681352" cy="40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and manage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34071" y="6340277"/>
            <a:ext cx="1175762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screen transitions smoothly with clear breadcrumbs and consistent navigation patterns, reducing cognitive load for all users.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62819"/>
            <a:ext cx="1769522" cy="367903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229" y="1025823"/>
            <a:ext cx="213959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HIGHLIGHTS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0632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UI Design Features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80444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0177" y="2280444"/>
            <a:ext cx="23814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Monitoring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370177" y="2689126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data updates ensure admins and trainers always see the current state of every session.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280444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1836" y="2280444"/>
            <a:ext cx="25887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User-Friendly Interface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071836" y="2689126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layouts with clear labels, minimal clutter, and guided workflows for all user roles.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280444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3496" y="228044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Responsive Design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773496" y="2689126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adaptive across desktop, tablet, and mobile — ensuring access in the field or office.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76824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0177" y="427682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Secure Login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370177" y="4685506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authentication with password validation, session timeouts, and access control.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276824"/>
            <a:ext cx="472468" cy="472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1836" y="427682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Analytics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5071836" y="4685506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charts, KPI cards, and trend summaries provide actionable insights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8491"/>
            <a:ext cx="1241791" cy="355203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45145"/>
            <a:ext cx="162456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19299"/>
            <a:ext cx="637891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Ready for Implementation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9341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4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Disaster Training Monitoring System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delivers a complete, professional UI framework — from secure login to role-based dashboards, attendance management, and report generation.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910880"/>
            <a:ext cx="10868745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910880"/>
            <a:ext cx="3622882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850482" y="309989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Complete UI Suite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0482" y="350857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screens covering all user roles and core workflows.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84357" y="2910880"/>
            <a:ext cx="3622882" cy="1693962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4284357" y="2910880"/>
            <a:ext cx="25399" cy="1693962"/>
          </a:xfrm>
          <a:prstGeom prst="roundRect">
            <a:avLst>
              <a:gd name="adj" fmla="val 111630"/>
            </a:avLst>
          </a:prstGeom>
          <a:solidFill>
            <a:srgbClr val="D3D1C9"/>
          </a:solidFill>
          <a:ln/>
        </p:spPr>
      </p:sp>
      <p:sp>
        <p:nvSpPr>
          <p:cNvPr id="12" name="Text 10"/>
          <p:cNvSpPr/>
          <p:nvPr/>
        </p:nvSpPr>
        <p:spPr>
          <a:xfrm>
            <a:off x="4473364" y="3099891"/>
            <a:ext cx="28017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Modern Design Language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473364" y="350857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typography, consistent cards, and SaaS-grade aesthetics.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07239" y="2910880"/>
            <a:ext cx="3622882" cy="1693962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7239" y="2910880"/>
            <a:ext cx="25399" cy="1693962"/>
          </a:xfrm>
          <a:prstGeom prst="roundRect">
            <a:avLst>
              <a:gd name="adj" fmla="val 111630"/>
            </a:avLst>
          </a:prstGeom>
          <a:solidFill>
            <a:srgbClr val="D3D1C9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46" y="309989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Faculty-Ready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096246" y="3508573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for project review, demonstration, and future development.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817467"/>
            <a:ext cx="10868745" cy="1039416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85159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03475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is designed for immediate deployment — scalable, secure, and built for real-world emergency training environments.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Nithesh kumar</cp:lastModifiedBy>
  <cp:revision>4</cp:revision>
  <dcterms:created xsi:type="dcterms:W3CDTF">2026-06-05T09:47:47Z</dcterms:created>
  <dcterms:modified xsi:type="dcterms:W3CDTF">2026-06-05T09:51:35Z</dcterms:modified>
</cp:coreProperties>
</file>